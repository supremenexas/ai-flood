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 snapToObjects="1">
      <p:cViewPr>
        <p:scale>
          <a:sx n="128" d="100"/>
          <a:sy n="128" d="100"/>
        </p:scale>
        <p:origin x="-232" y="-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7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5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morning/afternoon respected examiners and project guides.</a:t>
            </a:r>
          </a:p>
          <a:p>
            <a:r>
              <a:t>Welcome to the presentation of our academic minor project: 'AI-Based Flood Detection and Mapping Using Satellite Imagery'.</a:t>
            </a:r>
          </a:p>
          <a:p>
            <a:r>
              <a:t>In this work, we developed an audited deep learning semantic segmentation system using Sentinel-1 Synthetic Aperture Radar (SAR) imagery on the global Sen1Floods11 benchmark.</a:t>
            </a:r>
          </a:p>
          <a:p>
            <a:r>
              <a:t>Our PyTorch U-Net incorporates Group Normalization with 8 groups and a domain-specific Masked BCE plus Dice loss, evaluated across 100% of the 90 official test chips (20.5 million valid pixels), achieving 0.5548 IoU and 0.7137 Dice.</a:t>
            </a:r>
          </a:p>
          <a:p>
            <a:r>
              <a:t>We also built a live interactive Streamlit application for automated flood mapping and custom GeoTIFF upload. Let us examine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outlines the fundamental challenge motivating this project.</a:t>
            </a:r>
          </a:p>
          <a:p>
            <a:r>
              <a:t>Floods cause devastating social and economic losses. Timely disaster relief requires rapid mapping of inundated zones.</a:t>
            </a:r>
          </a:p>
          <a:p>
            <a:r>
              <a:t>However, optical satellites like Sentinel-2 rely on visible sunlight and are severely obstructed by storm clouds during active flooding events.</a:t>
            </a:r>
          </a:p>
          <a:p>
            <a:r>
              <a:t>Ground surveys are dangerous and hindered by submerged roads.</a:t>
            </a:r>
          </a:p>
          <a:p>
            <a:r>
              <a:t>Synthetic Aperture Radar (SAR) provides the ideal solution because C-band microwaves penetrate cloud cover, rain, and darkness. Smooth floodwaters reflect radar pulses away, creating distinct contrast against surrounding terrain.</a:t>
            </a:r>
          </a:p>
          <a:p>
            <a:r>
              <a:t>By pairing Sentinel-1 SAR with an optimized U-Net, our system automates pixel-level flood mapping in sub-50ms execution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our five core project objectives:</a:t>
            </a:r>
          </a:p>
          <a:p>
            <a:r>
              <a:t>First, to ingest and audit the global Sen1Floods11 benchmark dataset, verifying zero data leakage across splits.</a:t>
            </a:r>
          </a:p>
          <a:p>
            <a:r>
              <a:t>Second, to exploit Sentinel-1 C-band SAR backscatter in dual polarization (VV + VH).</a:t>
            </a:r>
          </a:p>
          <a:p>
            <a:r>
              <a:t>Third, to construct a customized PyTorch U-Net with Group Normalization (G=8), ensuring batch-size-independent normalization.</a:t>
            </a:r>
          </a:p>
          <a:p>
            <a:r>
              <a:t>Fourth, to formulate a domain-specific Masked BCE plus Dice loss that ignores invalid -1 pixels and handles class imbalance, followed by full 90-chip test evaluation.</a:t>
            </a:r>
          </a:p>
          <a:p>
            <a:r>
              <a:t>Fifth, to deploy an interactive Streamlit application with custom GeoTIFF upload and nominal flooded area 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details the physics of Synthetic Aperture Radar.</a:t>
            </a:r>
          </a:p>
          <a:p>
            <a:r>
              <a:t>Sentinel-1 operates in C-band microwave spectrum at 5.405 GHz.</a:t>
            </a:r>
          </a:p>
          <a:p>
            <a:r>
              <a:t>Because it is an active radar sensor, it emits its own pulses and captures the returned backscatter.</a:t>
            </a:r>
          </a:p>
          <a:p>
            <a:r>
              <a:t>Smooth standing water specularly reflects radar energy away from the sensor, appearing distinctively dark, typically below -18 dB.</a:t>
            </a:r>
          </a:p>
          <a:p>
            <a:r>
              <a:t>Rough terrain and vegetation scatter radar energy back diffusely, appearing brighter.</a:t>
            </a:r>
          </a:p>
          <a:p>
            <a:r>
              <a:t>We use dual polarization:</a:t>
            </a:r>
          </a:p>
          <a:p>
            <a:r>
              <a:t>The VV channel is vertically polarized and is sensitive to water surface roughness.</a:t>
            </a:r>
          </a:p>
          <a:p>
            <a:r>
              <a:t>The VH cross-polarization channel captures volume scattering from vegetation, helping the model differentiate crops from inundated ground.</a:t>
            </a:r>
          </a:p>
          <a:p>
            <a:r>
              <a:t>On the right, the enlarged verification panel demonstrates how the radar channels clearly delineate water bodies corresponding with the hand-labeled target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introduces the Sen1Floods11 benchmark dataset, spanning 11 catastrophic flood events across 6 continents.</a:t>
            </a:r>
          </a:p>
          <a:p>
            <a:r>
              <a:t>The dataset is cleanly split into 252 training chips, 89 validation chips, 90 official test chips, and 15 Bolivia holdout chips.</a:t>
            </a:r>
          </a:p>
          <a:p>
            <a:r>
              <a:t>We programmatically audited the dataset splits to verify zero overlapping chips between training and test partitions.</a:t>
            </a:r>
          </a:p>
          <a:p>
            <a:r>
              <a:t>The ground truth masks use discrete integer encoding:</a:t>
            </a:r>
          </a:p>
          <a:p>
            <a:r>
              <a:t>-1 for invalid pixels (which are ignored during training), 0 for dry land, and 1 for floodwater.</a:t>
            </a:r>
          </a:p>
          <a:p>
            <a:r>
              <a:t>We also clarify that Sen1Floods11 does not provide separate pre-flood SAR acquisitions; the JRC Global Surface Water 30-year permanence raster is used as the historical water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illustrates our data preprocessing pipeline.</a:t>
            </a:r>
          </a:p>
          <a:p>
            <a:r>
              <a:t>Step 1 clips raw decibel backscatter to the physical range of -35 to +5 dB.</a:t>
            </a:r>
          </a:p>
          <a:p>
            <a:r>
              <a:t>Step 2 normalizes this range to [0.0, 1.0] for neural network numerical stability.</a:t>
            </a:r>
          </a:p>
          <a:p>
            <a:r>
              <a:t>Step 3 is critical: we use strided slicing to resize satellite chips to 256 by 256 without applying interpolation algorithms, preserving discrete mask values.</a:t>
            </a:r>
          </a:p>
          <a:p>
            <a:r>
              <a:t>Step 4 applies synchronized geometric augmentations (flips and 90-degree rotations).</a:t>
            </a:r>
          </a:p>
          <a:p>
            <a:r>
              <a:t>Step 5 stacks the normalized VV and VH channels into a 2-channel PyTorch tensor ready for the U-Net.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illustrates our customized PyTorch U-Net architecture.</a:t>
            </a:r>
          </a:p>
          <a:p>
            <a:r>
              <a:t>The network follows an encoder-decoder topology with skip connections:</a:t>
            </a:r>
          </a:p>
          <a:p>
            <a:r>
              <a:t>The encoder contracts features across 4 stages (32, 64, 128, 256 channels), followed by a 512-channel bottleneck with spatial dropout (p=0.10).</a:t>
            </a:r>
          </a:p>
          <a:p>
            <a:r>
              <a:t>The decoder expands feature maps back to 256x256 resolution using bilinear upsampling and skip concatenation.</a:t>
            </a:r>
          </a:p>
          <a:p>
            <a:r>
              <a:t>A central architectural decision is Group Normalization with 8 groups:</a:t>
            </a:r>
          </a:p>
          <a:p>
            <a:r>
              <a:t>Because satellite imagery batch size is limited (B=2), Batch Normalization produces unstable running statistics. GroupNorm does not depend on batch-level statistics, ensuring stable training.</a:t>
            </a:r>
          </a:p>
          <a:p>
            <a:r>
              <a:t>Total trainable parameters: exactly 7,760,257.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covers our loss formulation and training setup.</a:t>
            </a:r>
          </a:p>
          <a:p>
            <a:r>
              <a:t>Due to severe class imbalance—with water occupying only 12.5% of pixels—we combined Binary Cross-Entropy with Soft Dice loss:</a:t>
            </a:r>
          </a:p>
          <a:p>
            <a:r>
              <a:t>0.5 BCE plus 0.5 Dice loss.</a:t>
            </a:r>
          </a:p>
          <a:p>
            <a:r>
              <a:t>BCE provides smooth pixel classification convergence, while Dice loss directly optimizes spatial region overlap.</a:t>
            </a:r>
          </a:p>
          <a:p>
            <a:r>
              <a:t>Invalid -1 pixels are masked out dynamically.</a:t>
            </a:r>
          </a:p>
          <a:p>
            <a:r>
              <a:t>We trained for 5 epochs using AdamW with learning rate 0.0005 and Cosine Annealing.</a:t>
            </a:r>
          </a:p>
          <a:p>
            <a:r>
              <a:t>On the right, the enlarged training curve confirms smooth, monotonic decrease in validation loss without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defines our evaluation metrics.</a:t>
            </a:r>
          </a:p>
          <a:p>
            <a:r>
              <a:t>All metrics are evaluated exclusively over valid pixels, strictly ignoring -1 invalid labels:</a:t>
            </a:r>
          </a:p>
          <a:p>
            <a:r>
              <a:t>IoU: True Positives over True Positives plus False Positives plus False Negatives.</a:t>
            </a:r>
          </a:p>
          <a:p>
            <a:r>
              <a:t>Dice Score: Harmonic mean of precision and recall.</a:t>
            </a:r>
          </a:p>
          <a:p>
            <a:r>
              <a:t>Precision: True Positives over all predicted positives—reducing false alarms.</a:t>
            </a:r>
          </a:p>
          <a:p>
            <a:r>
              <a:t>Recall: True Positives over all true flood pixels.</a:t>
            </a:r>
          </a:p>
          <a:p>
            <a:r>
              <a:t>Regarding accuracy: Because 87.5% of the benchmark is dry land, accuracy alone is misleading. IoU and Dice are the primary standards for rigorous semantic segmentation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presents our official complete test results.</a:t>
            </a:r>
          </a:p>
          <a:p>
            <a:r>
              <a:t>We evaluated all 90 chips in the official Sen1Floods11 test split without exclusions, covering 20,517,367 valid pixels.</a:t>
            </a:r>
          </a:p>
          <a:p>
            <a:r>
              <a:t>Verified test results:</a:t>
            </a:r>
          </a:p>
          <a:p>
            <a:r>
              <a:t>Test IoU: 0.5548</a:t>
            </a:r>
          </a:p>
          <a:p>
            <a:r>
              <a:t>Test Dice / F1 Score: 0.7137</a:t>
            </a:r>
          </a:p>
          <a:p>
            <a:r>
              <a:t>Test Precision: 0.7717</a:t>
            </a:r>
          </a:p>
          <a:p>
            <a:r>
              <a:t>Test Recall: 0.6637</a:t>
            </a:r>
          </a:p>
          <a:p>
            <a:r>
              <a:t>Overall Accuracy: 0.9334</a:t>
            </a:r>
          </a:p>
          <a:p>
            <a:r>
              <a:t>The model demonstrates 77.17% precision on the official benchmark.</a:t>
            </a:r>
          </a:p>
          <a:p>
            <a:r>
              <a:t>On the right, the enlarged validation metric progression confirms that IoU and Dice plateaued stably by epoch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breaks down our pixel-level confusion matrix across all 20.5 million valid test pixels:</a:t>
            </a:r>
          </a:p>
          <a:p>
            <a:r>
              <a:t>True Positives: 1,703,186 pixels</a:t>
            </a:r>
          </a:p>
          <a:p>
            <a:r>
              <a:t>False Positives: 503,818 pixels</a:t>
            </a:r>
          </a:p>
          <a:p>
            <a:r>
              <a:t>False Negatives: 862,915 pixels</a:t>
            </a:r>
          </a:p>
          <a:p>
            <a:r>
              <a:t>True Negatives: 17,447,448 pixels.</a:t>
            </a:r>
          </a:p>
          <a:p>
            <a:r>
              <a:t>Analyzing radar physics explains these error distributions:</a:t>
            </a:r>
          </a:p>
          <a:p>
            <a:r>
              <a:t>False Positives occur primarily on smooth dry land like airport runways that mirror radar pulses away, resembling calm water.</a:t>
            </a:r>
          </a:p>
          <a:p>
            <a:r>
              <a:t>False Negatives occur when floodwaters submerge dense forest canopies, where tree trunks create double-bounce backscatter that appears bright on radar.</a:t>
            </a:r>
          </a:p>
          <a:p>
            <a:r>
              <a:t>Understanding these radar phenomena helps us interpret model performance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presents our first dedicated qualitative case study: USA_905409, representing a high-performing benchmark prediction.</a:t>
            </a:r>
          </a:p>
          <a:p>
            <a:r>
              <a:t>The model achieved an IoU of 0.9350, Dice of 0.9664, Precision of 0.9720, and Recall of 0.9609.</a:t>
            </a:r>
          </a:p>
          <a:p>
            <a:r>
              <a:t>Looking at the enlarged 5-panel visualization:</a:t>
            </a:r>
          </a:p>
          <a:p>
            <a:r>
              <a:t>Panel 1 shows the SAR false-color composite.</a:t>
            </a:r>
          </a:p>
          <a:p>
            <a:r>
              <a:t>Panel 2 is the ground truth mask.</a:t>
            </a:r>
          </a:p>
          <a:p>
            <a:r>
              <a:t>Panel 3 is our model's binary prediction.</a:t>
            </a:r>
          </a:p>
          <a:p>
            <a:r>
              <a:t>Panel 4 displays the color overlay.</a:t>
            </a:r>
          </a:p>
          <a:p>
            <a:r>
              <a:t>Panel 5 displays the continuous Flood Probability Map.</a:t>
            </a:r>
          </a:p>
          <a:p>
            <a:r>
              <a:t>Because open agricultural floodplains produce clean specular reflection, the U-Net accurately recovers flood boundaries with minimal boundary blur.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shows our second case study: Pakistan_694942, representing an average-performance test chip.</a:t>
            </a:r>
          </a:p>
          <a:p>
            <a:r>
              <a:t>The model achieved an IoU of 0.3829, Dice of 0.5538, and a high Recall of 0.8313.</a:t>
            </a:r>
          </a:p>
          <a:p>
            <a:r>
              <a:t>In this scene, intense flooding submerged agricultural parcels and irrigation canals.</a:t>
            </a:r>
          </a:p>
          <a:p>
            <a:r>
              <a:t>The high recall confirms that 83.1% of true floodwaters were captured.</a:t>
            </a:r>
          </a:p>
          <a:p>
            <a:r>
              <a:t>However, precision is 41.52% due to false positives along saturated mudflats and wet soil, where soil moisture lowers radar backscatter and mimics shallow standing water.</a:t>
            </a:r>
          </a:p>
          <a:p>
            <a:r>
              <a:t>The Flood Probability Map in Panel 5 clearly reflects intermediate probability values in these boundary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presents an honest, transparent analysis of our most challenging test case: Sri-Lanka_450918.</a:t>
            </a:r>
          </a:p>
          <a:p>
            <a:r>
              <a:t>The model obtained an IoU of 0.0086 and Dice of 0.0171.</a:t>
            </a:r>
          </a:p>
          <a:p>
            <a:r>
              <a:t>We explicitly include this failure mode to demonstrate the physical constraints of single-pass C-band SAR:</a:t>
            </a:r>
          </a:p>
          <a:p>
            <a:r>
              <a:t>In dense tropical rainforests, floodwaters under the tree canopy do not exhibit specular reflection.</a:t>
            </a:r>
          </a:p>
          <a:p>
            <a:r>
              <a:t>Instead, the water surface and vertical tree trunks form 90-degree corner reflectors, bouncing microwave energy back to the satellite antenna in a phenomenon known as 'double-bounce'.</a:t>
            </a:r>
          </a:p>
          <a:p>
            <a:r>
              <a:t>As a result, the flooded forest appears bright rather than dark, causing the model to miss submerged vegetation.</a:t>
            </a:r>
          </a:p>
          <a:p>
            <a:r>
              <a:t>This provides a clear justification for future multi-sensor and bi-temporal SAR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explains how model probabilities translate into geospatial flood maps.</a:t>
            </a:r>
          </a:p>
          <a:p>
            <a:r>
              <a:t>Our network outputs continuous values between 0 and 1, which we term the 'Flood Probability Map'.</a:t>
            </a:r>
          </a:p>
          <a:p>
            <a:r>
              <a:t>Applying an adjustable decision threshold (defaulting to 0.50) generates the binary flood polygon.</a:t>
            </a:r>
          </a:p>
          <a:p>
            <a:r>
              <a:t>We then compute the 'Nominal Flooded Area' in square kilometers based on nominal 10-meter pixel resolution (100 square meters per pixel).</a:t>
            </a:r>
          </a:p>
          <a:p>
            <a:r>
              <a:t>We explicitly clarify that because Sen1Floods11 rasters are unprojected WGS84 (EPSG:4326), pixel width varies with the cosine of latitude. Therefore, we report 'Nominal Flooded Area' rather than claiming exact geodesic area.</a:t>
            </a:r>
          </a:p>
          <a:p>
            <a:r>
              <a:t>The large visual below displays the regional inundation mapping for Somalia.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presents our interactive Streamlit demonstration dashboard, implemented in app.py.</a:t>
            </a:r>
          </a:p>
          <a:p>
            <a:r>
              <a:t>Mode A is the Benchmark Test Explorer, allowing examiners to inspect any of the 90 official test chips with full 5-panel visual diagnostics and live metric calculations.</a:t>
            </a:r>
          </a:p>
          <a:p>
            <a:r>
              <a:t>Mode B supports custom GeoTIFF uploads for testing arbitrary Sentinel-1 files.</a:t>
            </a:r>
          </a:p>
          <a:p>
            <a:r>
              <a:t>Model inference takes under 50 milliseconds thanks to weight caching with @st.cache_resource.</a:t>
            </a:r>
          </a:p>
          <a:p>
            <a:r>
              <a:t>We are ready to switch to the live local demo at localhost:8501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provides an objective assessment of limitations and future scope.</a:t>
            </a:r>
          </a:p>
          <a:p>
            <a:r>
              <a:t>Current limitations:</a:t>
            </a:r>
          </a:p>
          <a:p>
            <a:r>
              <a:t>1. False positives on smooth dry land like airport tarmac due to specular radar reflection.</a:t>
            </a:r>
          </a:p>
          <a:p>
            <a:r>
              <a:t>2. False negatives in dense forests where double-bounce backscatter masks standing water.</a:t>
            </a:r>
          </a:p>
          <a:p>
            <a:r>
              <a:t>3. Reliance on the JRC 30-year permanence raster rather than paired pre-flood SAR acquisitions.</a:t>
            </a:r>
          </a:p>
          <a:p>
            <a:r>
              <a:t>4. Nominal equatorial area estimation due to unprojected WGS84 coordinates.</a:t>
            </a:r>
          </a:p>
          <a:p>
            <a:r>
              <a:t>Future work includes:</a:t>
            </a:r>
          </a:p>
          <a:p>
            <a:r>
              <a:t>1. Bi-temporal SAR difference networks with pre-and-post flood SAR pairs.</a:t>
            </a:r>
          </a:p>
          <a:p>
            <a:r>
              <a:t>2. Integrating digital elevation models (DEM) to filter elevated terrain.</a:t>
            </a:r>
          </a:p>
          <a:p>
            <a:r>
              <a:t>3. Intersecting flood polygons with OpenStreetMap road and building vector layers to identify stranded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summary, we have built and audited an end-to-end deep learning semantic segmentation system for satellite radar flood mapping.</a:t>
            </a:r>
          </a:p>
          <a:p>
            <a:r>
              <a:t>By leveraging Sentinel-1 dual polarization, Group Normalization (G=8), and a masked BCE-Dice loss, our model achieves 0.5548 Test IoU and 0.7137 Dice across all 90 chips of the official benchmark without data leakage.</a:t>
            </a:r>
          </a:p>
          <a:p>
            <a:r>
              <a:t>Our complete test suite of 39 unit tests passes with 100% success, and our Streamlit application provides real-time flood mapping and GeoTIFF upload.</a:t>
            </a:r>
          </a:p>
          <a:p>
            <a:r>
              <a:t>Thank you for your attention. We are ready for your questions and the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5A0FE8-6C30-303E-0177-F1E5339EF919}"/>
              </a:ext>
            </a:extLst>
          </p:cNvPr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350A64-09A9-DBFC-B42A-445C5A83F66B}"/>
              </a:ext>
            </a:extLst>
          </p:cNvPr>
          <p:cNvSpPr/>
          <p:nvPr/>
        </p:nvSpPr>
        <p:spPr>
          <a:xfrm>
            <a:off x="1051560" y="906290"/>
            <a:ext cx="3657600" cy="32918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ACADEMIC MINOR PROJECT • AI &amp; REMOTE SENSING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EB6F7-39CD-CAC0-6409-319D61CD81B5}"/>
              </a:ext>
            </a:extLst>
          </p:cNvPr>
          <p:cNvSpPr txBox="1"/>
          <p:nvPr/>
        </p:nvSpPr>
        <p:spPr>
          <a:xfrm>
            <a:off x="914400" y="1371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rPr dirty="0"/>
              <a:t>AI-Based Flood Detection &amp; Mapping Using Satellite Imagery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EA6FF-A6EF-940C-667A-8E9A8CCD8431}"/>
              </a:ext>
            </a:extLst>
          </p:cNvPr>
          <p:cNvSpPr txBox="1"/>
          <p:nvPr/>
        </p:nvSpPr>
        <p:spPr>
          <a:xfrm>
            <a:off x="91440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Sen1Floods11 • Sentinel-1 SAR Dual-Polarization • PyTorch U-Net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CB35A9-E984-440F-19FA-39AA8D0D7A0A}"/>
              </a:ext>
            </a:extLst>
          </p:cNvPr>
          <p:cNvSpPr/>
          <p:nvPr/>
        </p:nvSpPr>
        <p:spPr>
          <a:xfrm>
            <a:off x="914400" y="320040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BD638-4356-7732-01EA-A3ABACA1214D}"/>
              </a:ext>
            </a:extLst>
          </p:cNvPr>
          <p:cNvSpPr txBox="1"/>
          <p:nvPr/>
        </p:nvSpPr>
        <p:spPr>
          <a:xfrm>
            <a:off x="1051560" y="3801837"/>
            <a:ext cx="4846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1F5F9"/>
                </a:solidFill>
              </a:rPr>
              <a:t>23BCP386- Ishant Solanki</a:t>
            </a:r>
          </a:p>
          <a:p>
            <a:r>
              <a:rPr lang="en-US" sz="1400" dirty="0">
                <a:solidFill>
                  <a:srgbClr val="F1F5F9"/>
                </a:solidFill>
              </a:rPr>
              <a:t>23BCP391 – Supriyo Chaudhuri</a:t>
            </a:r>
          </a:p>
          <a:p>
            <a:endParaRPr lang="en-US" sz="1400" dirty="0">
              <a:solidFill>
                <a:srgbClr val="F1F5F9"/>
              </a:solidFill>
            </a:endParaRPr>
          </a:p>
          <a:p>
            <a:r>
              <a:rPr lang="en-US" sz="1400" dirty="0">
                <a:solidFill>
                  <a:srgbClr val="F1F5F9"/>
                </a:solidFill>
              </a:rPr>
              <a:t>Internal mentor – Dr. Nidhi Dubey</a:t>
            </a:r>
          </a:p>
          <a:p>
            <a:r>
              <a:rPr lang="en-US" sz="1400" dirty="0">
                <a:solidFill>
                  <a:srgbClr val="F1F5F9"/>
                </a:solidFill>
              </a:rPr>
              <a:t>External mentor – Dr. Samir Patel</a:t>
            </a:r>
            <a:endParaRPr sz="1400" dirty="0">
              <a:solidFill>
                <a:srgbClr val="F1F5F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47B83-1C85-95BE-E4ED-531CCCF85A03}"/>
              </a:ext>
            </a:extLst>
          </p:cNvPr>
          <p:cNvSpPr txBox="1"/>
          <p:nvPr/>
        </p:nvSpPr>
        <p:spPr>
          <a:xfrm>
            <a:off x="914400" y="5486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TECH STACK: Python 3.11  •  PyTorch  •  U-Net  •  Streamlit  •  Rasterio  •  Torchvision</a:t>
            </a:r>
          </a:p>
        </p:txBody>
      </p:sp>
      <p:pic>
        <p:nvPicPr>
          <p:cNvPr id="9" name="Picture 8" descr="1_good_prediction_USA_905409.png">
            <a:extLst>
              <a:ext uri="{FF2B5EF4-FFF2-40B4-BE49-F238E27FC236}">
                <a16:creationId xmlns:a16="http://schemas.microsoft.com/office/drawing/2014/main" id="{A6949C70-A52E-CAC9-A0CA-618E7A827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21913"/>
            <a:ext cx="5120640" cy="11187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D85126-477F-CA3B-1E52-64C1E7441254}"/>
              </a:ext>
            </a:extLst>
          </p:cNvPr>
          <p:cNvSpPr txBox="1"/>
          <p:nvPr/>
        </p:nvSpPr>
        <p:spPr>
          <a:xfrm>
            <a:off x="6217920" y="55778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Verified Model Output: 5-Panel Flood Segmentation on USA Benchmark Chip (IoU: 0.9350)</a:t>
            </a:r>
          </a:p>
        </p:txBody>
      </p:sp>
      <p:pic>
        <p:nvPicPr>
          <p:cNvPr id="11" name="Picture 10" descr="Ghana_313799_verification.png">
            <a:extLst>
              <a:ext uri="{FF2B5EF4-FFF2-40B4-BE49-F238E27FC236}">
                <a16:creationId xmlns:a16="http://schemas.microsoft.com/office/drawing/2014/main" id="{26C91D09-E564-7D6C-93EE-20C350BEF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785" y="2810704"/>
            <a:ext cx="4216471" cy="27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4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3657600" cy="32918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ACADEMIC MINOR PROJECT • AI &amp; REMOTE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AI-Based Flood Detection &amp; Mapping Using Satellite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Sen1Floods11 • Sentinel-1 SAR Dual-Polarization • PyTorch U-Net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4846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E5FF"/>
                </a:solidFill>
              </a:rPr>
              <a:t>• Modality: </a:t>
            </a:r>
            <a:r>
              <a:rPr sz="1400" dirty="0">
                <a:solidFill>
                  <a:srgbClr val="F1F5F9"/>
                </a:solidFill>
              </a:rPr>
              <a:t>Sentinel-1 SAR C-Band (VV + VH Dual Polarization)</a:t>
            </a:r>
          </a:p>
          <a:p>
            <a:r>
              <a:rPr sz="1400" b="1" dirty="0">
                <a:solidFill>
                  <a:srgbClr val="00E5FF"/>
                </a:solidFill>
              </a:rPr>
              <a:t>• Architecture: </a:t>
            </a:r>
            <a:r>
              <a:rPr sz="1400" dirty="0" err="1">
                <a:solidFill>
                  <a:srgbClr val="F1F5F9"/>
                </a:solidFill>
              </a:rPr>
              <a:t>PyTorch</a:t>
            </a:r>
            <a:r>
              <a:rPr sz="1400" dirty="0">
                <a:solidFill>
                  <a:srgbClr val="F1F5F9"/>
                </a:solidFill>
              </a:rPr>
              <a:t> U-Net with Group Normalization (G=8)</a:t>
            </a:r>
          </a:p>
          <a:p>
            <a:r>
              <a:rPr sz="1400" b="1" dirty="0">
                <a:solidFill>
                  <a:srgbClr val="00E5FF"/>
                </a:solidFill>
              </a:rPr>
              <a:t>• Benchmark: </a:t>
            </a:r>
            <a:r>
              <a:rPr sz="1400" dirty="0">
                <a:solidFill>
                  <a:srgbClr val="F1F5F9"/>
                </a:solidFill>
              </a:rPr>
              <a:t>Sen1Floods11 (11 Global Events across 6 Continents)</a:t>
            </a:r>
          </a:p>
          <a:p>
            <a:r>
              <a:rPr sz="1400" b="1" dirty="0">
                <a:solidFill>
                  <a:srgbClr val="00E5FF"/>
                </a:solidFill>
              </a:rPr>
              <a:t>• Evaluation: </a:t>
            </a:r>
            <a:r>
              <a:rPr sz="1400" dirty="0">
                <a:solidFill>
                  <a:srgbClr val="F1F5F9"/>
                </a:solidFill>
              </a:rPr>
              <a:t>100% Full Test Split (90/90 Chips, 20.5M Valid Pixels)</a:t>
            </a:r>
          </a:p>
          <a:p>
            <a:r>
              <a:rPr sz="1400" b="1" dirty="0">
                <a:solidFill>
                  <a:srgbClr val="00E5FF"/>
                </a:solidFill>
              </a:rPr>
              <a:t>• Test Results: </a:t>
            </a:r>
            <a:r>
              <a:rPr sz="1400" dirty="0">
                <a:solidFill>
                  <a:srgbClr val="F1F5F9"/>
                </a:solidFill>
              </a:rPr>
              <a:t>0.5548 </a:t>
            </a:r>
            <a:r>
              <a:rPr sz="1400" dirty="0" err="1">
                <a:solidFill>
                  <a:srgbClr val="F1F5F9"/>
                </a:solidFill>
              </a:rPr>
              <a:t>IoU</a:t>
            </a:r>
            <a:r>
              <a:rPr sz="1400" dirty="0">
                <a:solidFill>
                  <a:srgbClr val="F1F5F9"/>
                </a:solidFill>
              </a:rPr>
              <a:t>  |  0.7137 Dice/F1  |  93.34% Accuracy</a:t>
            </a:r>
          </a:p>
          <a:p>
            <a:r>
              <a:rPr sz="1400" b="1" dirty="0">
                <a:solidFill>
                  <a:srgbClr val="00E5FF"/>
                </a:solidFill>
              </a:rPr>
              <a:t>• Deployment: </a:t>
            </a:r>
            <a:r>
              <a:rPr sz="1400" dirty="0">
                <a:solidFill>
                  <a:srgbClr val="F1F5F9"/>
                </a:solidFill>
              </a:rPr>
              <a:t>Interactive </a:t>
            </a:r>
            <a:r>
              <a:rPr sz="1400" dirty="0" err="1">
                <a:solidFill>
                  <a:srgbClr val="F1F5F9"/>
                </a:solidFill>
              </a:rPr>
              <a:t>Streamlit</a:t>
            </a:r>
            <a:r>
              <a:rPr sz="1400" dirty="0">
                <a:solidFill>
                  <a:srgbClr val="F1F5F9"/>
                </a:solidFill>
              </a:rPr>
              <a:t> Dashboard + Custom </a:t>
            </a:r>
            <a:r>
              <a:rPr sz="1400" dirty="0" err="1">
                <a:solidFill>
                  <a:srgbClr val="F1F5F9"/>
                </a:solidFill>
              </a:rPr>
              <a:t>GeoTIFF</a:t>
            </a:r>
            <a:r>
              <a:rPr sz="1400" dirty="0">
                <a:solidFill>
                  <a:srgbClr val="F1F5F9"/>
                </a:solidFill>
              </a:rPr>
              <a:t>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TECH STACK: Python 3.11  •  PyTorch  •  U-Net  •  Streamlit  •  Rasterio  •  Torchvision</a:t>
            </a:r>
          </a:p>
        </p:txBody>
      </p:sp>
      <p:pic>
        <p:nvPicPr>
          <p:cNvPr id="9" name="Picture 8" descr="1_good_prediction_USA_9054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120640" cy="11187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5778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Verified Model Output: 5-Panel Flood Segmentation on USA Benchmark Chip (IoU: 0.9350)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Disaster Response &amp; The Optical Cloud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Why automated radar-based flood mapping is critical for disaster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1. The Global Flood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8541"/>
            <a:ext cx="310896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Most Frequent Natural Disaster: Floods account for over 40% of all disaster events worldwide.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Rapid Inundation: Floodwaters peak rapidly, isolating communities and submerging transport corridors.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Emergency Response Need: Disaster relief teams require rapid, accurate spatial maps of inundated zones.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Ground Survey Hazards: Field surveys are impeded by submerged infrastructure and hazardous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091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t>2. The Optical Sensor Obstruction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910" y="2458542"/>
            <a:ext cx="310896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Cloud Cover Obstruction: Active flood events are accompanied by severe storms, resulting in widespread cloud cover.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Optical Limitation: Sensors like Sentinel-2 and Landsat operate in visible/NIR spectra and cannot see through thick storm clouds.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Delayed Observation: Usable optical scenes are often unavailable until days or weeks after flood peaks.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Manual Interpretation Bottleneck: Manual digitization of large satellite swaths is too slow for emergency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335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1215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3. The AI + SAR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215" y="2458543"/>
            <a:ext cx="310896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All-Weather Penetration: Synthetic Aperture Radar (SAR) microwave signals penetrate rain, storm clouds, and operate day and night.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Radar Backscatter Contrast: Smooth standing water </a:t>
            </a:r>
            <a:r>
              <a:rPr sz="1200" dirty="0" err="1"/>
              <a:t>specularly</a:t>
            </a:r>
            <a:r>
              <a:rPr sz="1200" dirty="0"/>
              <a:t> reflects radar pulses away, appearing characteristically dark.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Deep Learning Automation: Custom U-Net model segments water extent at pixel level directly from dual-polarization SAR.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rPr sz="1200" dirty="0"/>
              <a:t>• Fast Execution: Generates complete flood probability maps in under 50ms per 256×256 chip.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SCOPE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Objectives &amp; Technical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Five core research and engineering milestones established for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Arial"/>
              </a:defRPr>
            </a:pPr>
            <a:r>
              <a:t>1. Benchmark Ingestion &amp; Zero-Leakage Audit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Ingest and validate the global Sen1Floods11 benchmark across 11 flood events. Enforce strict mutual exclusivity across train, validation, and test splits with 0 overlapping chips.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67919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2. Dual-Polarization SAR Feature Extraction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Exploit Sentinel-1 C-band SAR backscatter in both VV and VH channels, normalized from decibels to handle specular water reflection and land volume scattering.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359359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3. Optimized PyTorch U-Net Architecture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Implement an efficient U-Net with Group Normalization (G=8) to ensure batch-size-independent normalization stability and spatial dropout (p=0.10) to mitigate overfitting.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50799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4. Masked Loss Formulation &amp; Full Benchmark Evaluation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Formulate a hybrid loss combining BCE and Dice loss calculated exclusively on valid pixels (ignoring -1 invalid labels). Rigorously evaluate across 100% of the 90 official test chips.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5422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5. Interactive Web Application &amp; Geospatial Deployment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Develop a lightweight, high-performance Streamlit dashboard supporting benchmark chip inspection, real-time threshold tuning, nominal flooded area estimation, and custom GeoTIFF 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RADAR REMOTE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Sentinel-1 Synthetic Aperture Radar (SAR)?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Physical principles of microwave backscatter and dual-polarization discrimination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Radar Backscatter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38BDF8"/>
                </a:solidFill>
              </a:rPr>
              <a:t>• C-Band Active Radar (5.405 GHz): </a:t>
            </a:r>
            <a:r>
              <a:rPr sz="1200" dirty="0">
                <a:solidFill>
                  <a:srgbClr val="F1F5F9"/>
                </a:solidFill>
              </a:rPr>
              <a:t>Operates day and night independent of sunlight; penetrates clouds, rain, and haze.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38BDF8"/>
                </a:solidFill>
              </a:rPr>
              <a:t>• Specular Reflection on Water: </a:t>
            </a:r>
            <a:r>
              <a:rPr sz="1200" dirty="0">
                <a:solidFill>
                  <a:srgbClr val="F1F5F9"/>
                </a:solidFill>
              </a:rPr>
              <a:t>Smooth water acts like a mirror, reflecting radar pulses away from the antenna. Water appears characteristically dark (&lt; -18 dB).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38BDF8"/>
                </a:solidFill>
              </a:rPr>
              <a:t>• Diffuse Scattering on Land: </a:t>
            </a:r>
            <a:r>
              <a:rPr sz="1200" dirty="0">
                <a:solidFill>
                  <a:srgbClr val="F1F5F9"/>
                </a:solidFill>
              </a:rPr>
              <a:t>Rough soil, vegetation, and terrain scatter pulses diffusely back to the sensor, appearing brighter (-12 dB to -5 dB).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38BDF8"/>
                </a:solidFill>
              </a:rPr>
              <a:t>• VV Polarization Channel: </a:t>
            </a:r>
            <a:r>
              <a:rPr sz="1200" dirty="0">
                <a:solidFill>
                  <a:srgbClr val="F1F5F9"/>
                </a:solidFill>
              </a:rPr>
              <a:t>Vertical transmit / Vertical receive. Highly sensitive to surface water roughness and open water boundaries.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38BDF8"/>
                </a:solidFill>
              </a:rPr>
              <a:t>• VH Polarization Channel: </a:t>
            </a:r>
            <a:r>
              <a:rPr sz="1200" dirty="0">
                <a:solidFill>
                  <a:srgbClr val="F1F5F9"/>
                </a:solidFill>
              </a:rPr>
              <a:t>Vertical transmit / Horizontal receive. Captures depolarized volume scattering from vegetation canopy.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Dual-Polarization Dataset Sample (Ghana)</a:t>
            </a:r>
          </a:p>
        </p:txBody>
      </p:sp>
      <p:pic>
        <p:nvPicPr>
          <p:cNvPr id="12" name="Picture 11" descr="Ghana_313799_ver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03120"/>
            <a:ext cx="5605272" cy="36818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Sen1Floods11 Hand-Labeled Verification: S1 VV, S1 VH, S2 Optical, and Target Mask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DATA ENGINEERING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Dataset: Sen1Floods11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Global distribution, split verification, and discrete ground truth label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Official Dataset Partitions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050" b="1">
                <a:solidFill>
                  <a:srgbClr val="38BDF8"/>
                </a:solidFill>
              </a:rPr>
              <a:t>• Training Split:      </a:t>
            </a:r>
            <a:r>
              <a:rPr sz="1050" b="1">
                <a:solidFill>
                  <a:srgbClr val="FFFFFF"/>
                </a:solidFill>
              </a:rPr>
              <a:t>252 chips  </a:t>
            </a:r>
            <a:r>
              <a:rPr sz="950">
                <a:solidFill>
                  <a:srgbClr val="94A3B8"/>
                </a:solidFill>
              </a:rPr>
              <a:t>(1,008 GeoTIFFs)</a:t>
            </a:r>
          </a:p>
          <a:p>
            <a:r>
              <a:rPr sz="1050" b="1">
                <a:solidFill>
                  <a:srgbClr val="38BDF8"/>
                </a:solidFill>
              </a:rPr>
              <a:t>• Validation Split:    </a:t>
            </a:r>
            <a:r>
              <a:rPr sz="1050" b="1">
                <a:solidFill>
                  <a:srgbClr val="FFFFFF"/>
                </a:solidFill>
              </a:rPr>
              <a:t>89 chips   </a:t>
            </a:r>
            <a:r>
              <a:rPr sz="950">
                <a:solidFill>
                  <a:srgbClr val="94A3B8"/>
                </a:solidFill>
              </a:rPr>
              <a:t>(356 GeoTIFFs)</a:t>
            </a:r>
          </a:p>
          <a:p>
            <a:r>
              <a:rPr sz="1050" b="1">
                <a:solidFill>
                  <a:srgbClr val="38BDF8"/>
                </a:solidFill>
              </a:rPr>
              <a:t>• Official Test Split: </a:t>
            </a:r>
            <a:r>
              <a:rPr sz="1050" b="1">
                <a:solidFill>
                  <a:srgbClr val="FFFFFF"/>
                </a:solidFill>
              </a:rPr>
              <a:t>90 chips   </a:t>
            </a:r>
            <a:r>
              <a:rPr sz="950">
                <a:solidFill>
                  <a:srgbClr val="94A3B8"/>
                </a:solidFill>
              </a:rPr>
              <a:t>(360 GeoTIFFs)</a:t>
            </a:r>
          </a:p>
          <a:p>
            <a:r>
              <a:rPr sz="1050" b="1">
                <a:solidFill>
                  <a:srgbClr val="38BDF8"/>
                </a:solidFill>
              </a:rPr>
              <a:t>• Bolivia Holdout:     </a:t>
            </a:r>
            <a:r>
              <a:rPr sz="1050" b="1">
                <a:solidFill>
                  <a:srgbClr val="FFFFFF"/>
                </a:solidFill>
              </a:rPr>
              <a:t>15 chips   </a:t>
            </a:r>
            <a:r>
              <a:rPr sz="950">
                <a:solidFill>
                  <a:srgbClr val="94A3B8"/>
                </a:solidFill>
              </a:rPr>
              <a:t>(60 GeoTIFFs)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493776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Label Encoding &amp;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752138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000" b="1" dirty="0">
                <a:solidFill>
                  <a:srgbClr val="10B981"/>
                </a:solidFill>
              </a:rPr>
              <a:t>• Zero Data Leakage: </a:t>
            </a:r>
            <a:r>
              <a:rPr sz="950" dirty="0">
                <a:solidFill>
                  <a:srgbClr val="F1F5F9"/>
                </a:solidFill>
              </a:rPr>
              <a:t>Verified pairwise mutual exclusivity across splits — 0 overlapping chips.</a:t>
            </a:r>
          </a:p>
          <a:p>
            <a:r>
              <a:rPr sz="1000" b="1" dirty="0">
                <a:solidFill>
                  <a:srgbClr val="F59E0B"/>
                </a:solidFill>
              </a:rPr>
              <a:t>• Label -1 (Invalid): </a:t>
            </a:r>
            <a:r>
              <a:rPr sz="950" dirty="0">
                <a:solidFill>
                  <a:srgbClr val="F1F5F9"/>
                </a:solidFill>
              </a:rPr>
              <a:t>Missing data or sensor artifacts (masked out during loss calculation).</a:t>
            </a:r>
          </a:p>
          <a:p>
            <a:r>
              <a:rPr sz="1000" b="1" dirty="0">
                <a:solidFill>
                  <a:srgbClr val="FFFFFF"/>
                </a:solidFill>
              </a:rPr>
              <a:t>• Label 0 (Dry Land): </a:t>
            </a:r>
            <a:r>
              <a:rPr sz="950" dirty="0" err="1">
                <a:solidFill>
                  <a:srgbClr val="F1F5F9"/>
                </a:solidFill>
              </a:rPr>
              <a:t>Uninundated</a:t>
            </a:r>
            <a:r>
              <a:rPr sz="950" dirty="0">
                <a:solidFill>
                  <a:srgbClr val="F1F5F9"/>
                </a:solidFill>
              </a:rPr>
              <a:t> terrain, soil, roads, and non-flooded vegetation.</a:t>
            </a:r>
          </a:p>
          <a:p>
            <a:r>
              <a:rPr sz="1000" b="1" dirty="0">
                <a:solidFill>
                  <a:srgbClr val="FFFFFF"/>
                </a:solidFill>
              </a:rPr>
              <a:t>• Label 1 (Water/Flood): </a:t>
            </a:r>
            <a:r>
              <a:rPr sz="950" dirty="0">
                <a:solidFill>
                  <a:srgbClr val="F1F5F9"/>
                </a:solidFill>
              </a:rPr>
              <a:t>Inundated floodplains and water bodies (12.51% of valid test pixels).</a:t>
            </a:r>
          </a:p>
          <a:p>
            <a:r>
              <a:rPr sz="1000" b="1" dirty="0">
                <a:solidFill>
                  <a:srgbClr val="FFFFFF"/>
                </a:solidFill>
              </a:rPr>
              <a:t>• Historical Baseline: </a:t>
            </a:r>
            <a:r>
              <a:rPr sz="950" dirty="0">
                <a:solidFill>
                  <a:srgbClr val="F1F5F9"/>
                </a:solidFill>
              </a:rPr>
              <a:t>JRC 30-year permanence raster provides historical surface water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Bolivia Holdout Verification Sample</a:t>
            </a:r>
          </a:p>
        </p:txBody>
      </p:sp>
      <p:pic>
        <p:nvPicPr>
          <p:cNvPr id="15" name="Picture 14" descr="Bolivia_103757_ver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03120"/>
            <a:ext cx="5605272" cy="36818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Bolivia Holdout Event: S1 VV, S1 VH, S2 Optical, and Discrete Ground Truth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PIPELINE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Preprocessing &amp; Tensor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End-to-end normalization, strided spatial subsampling, and synchronized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69164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Decibel Clipping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Input: Float32 GeoTIFFs.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Range: [-35 dB, +5 dB].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Clips extreme specular outliers below -35 dB and corner reflectors above +5 dB.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Suppresses radar flare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1828800"/>
            <a:ext cx="16916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Min-Max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Normalized Range: [0.0, 1.0].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Formula: (dB - (-35)) / 40.0.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Applied identically to VV and VH channels.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Ensures stable numerical gradient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2080" y="1828800"/>
            <a:ext cx="16916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Strided Subsampling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Target Resolution: 256 × 256.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Method: Slicing ([::stride, ::stride]).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Strictly preserves discrete integer labels (-1, 0, 1).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Avoids interpolation blurring.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52360" y="1828800"/>
            <a:ext cx="16916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Synchronized 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Horizontal Flip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Vertical Flip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90° Rotations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Applied identically to SAR channels and masks.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0" y="1828800"/>
            <a:ext cx="169164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Tensor 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Tensor Shape: (2, 256, 256).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Channel 0: Normalized VV.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Channel 1: Normalized VH.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Target: (1, 256, 256) LongTensor.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Formats data for U-Net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Customized PyTorch U-Net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Recognizable encoder-decoder network with Group Normalization (G=8) and skip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7315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Encoder-Decoder Flow with Skip Connections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65836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INPUT: 2 × 256 × 256 Tensor (Channel 0: S1-VV, Channel 1: S1-VH)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1 (32 ch, 128²)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83280" y="267919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60604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1 (32 ch, 256²)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1752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2 (64 ch, 64²)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83280" y="309067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01752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2 (64 ch, 128²)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2900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3 (128 ch, 32²)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83280" y="350215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42900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3 (128 ch, 64²)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4 (256 ch, 16²)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83280" y="391363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84048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4 (256 ch, 32²)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658368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★ BOTTLENECK: Conv3x3 (256 → 512) + Spatial Dropout (p=0.10) [512 × 16 × 16]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00600"/>
            <a:ext cx="65836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32B"/>
                </a:solidFill>
              </a:defRPr>
            </a:pPr>
            <a:r>
              <a:t>OUTPUT: 1×1 Conv (32 → 1) → Single-Channel Logits (1 × 256 × 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Block Design: Each stage utilizes DoubleConv3x3 + GroupNorm (G=8) + GELU activation.</a:t>
            </a:r>
            <a:br/>
            <a:r>
              <a:t>• Upsampling: Bilinear interpolation avoids checkerboard deconvolution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00200"/>
            <a:ext cx="359633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Architecture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GroupNorm (G=8) vs BatchNorm:
  </a:t>
            </a:r>
            <a:r>
              <a:rPr sz="950">
                <a:solidFill>
                  <a:srgbClr val="F1F5F9"/>
                </a:solidFill>
              </a:rPr>
              <a:t>BatchNorm relies on batch statistics. With small batch size (B=2), BatchNorm exhibits high statistical variance. GroupNorm does not depend on batch-level statistics, operating per image across 8 channel groups.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Bilinear Upsampling:
  </a:t>
            </a:r>
            <a:r>
              <a:rPr sz="950">
                <a:solidFill>
                  <a:srgbClr val="F1F5F9"/>
                </a:solidFill>
              </a:rPr>
              <a:t>Replaces transposed convolution to ensure artifact-free reconstruction along narrow waterways.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Skip Connections:
  </a:t>
            </a:r>
            <a:r>
              <a:rPr sz="950">
                <a:solidFill>
                  <a:srgbClr val="F1F5F9"/>
                </a:solidFill>
              </a:rPr>
              <a:t>Preserves fine spatial boundaries by concatenating encoder feature maps directly to decoder stages.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Parameters: 7,760,257
  </a:t>
            </a:r>
            <a:r>
              <a:rPr sz="950">
                <a:solidFill>
                  <a:srgbClr val="F1F5F9"/>
                </a:solidFill>
              </a:rPr>
              <a:t>Balanced capacity providing representational expressiveness while maintaining &lt;50ms inference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OPTIMIZATION &amp;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Loss Formulation &amp; 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Hybrid masked loss overcoming class imbalance and verified convergence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Masked BCE + Dice Loss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Loss Function (Evaluated on Valid Pixels y ≠ -1):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ℒ_total = 0.5 × ℒ_BCE + 0.5 × ℒ_Dice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</a:rPr>
              <a:t>1. Binary Cross-Entropy (BCE): </a:t>
            </a:r>
            <a:r>
              <a:rPr sz="1000">
                <a:solidFill>
                  <a:srgbClr val="F1F5F9"/>
                </a:solidFill>
              </a:rPr>
              <a:t>Calculates pixel-wise logarithmic loss for smooth probability convergence.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</a:rPr>
              <a:t>2. Soft Dice Loss: </a:t>
            </a:r>
            <a:r>
              <a:rPr sz="1000">
                <a:solidFill>
                  <a:srgbClr val="F1F5F9"/>
                </a:solidFill>
              </a:rPr>
              <a:t>Directly optimizes region overlap, mitigating severe foreground class imbalance (12.5% water vs. 87.5% land).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</a:rPr>
              <a:t>3. Dynamic Masking: </a:t>
            </a:r>
            <a:r>
              <a:rPr sz="1000">
                <a:solidFill>
                  <a:srgbClr val="F1F5F9"/>
                </a:solidFill>
              </a:rPr>
              <a:t>Pixels labeled -1 are masked out prior to loss computation, preventing corrupted gradient propagation.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</a:rPr>
              <a:t>4. Training Config: </a:t>
            </a:r>
            <a:r>
              <a:rPr sz="1000">
                <a:solidFill>
                  <a:srgbClr val="F1F5F9"/>
                </a:solidFill>
              </a:rPr>
              <a:t>AdamW (lr = 0.0005, weight decay = 1e-4), Cosine Annealing, 5 epochs in ~15.2s on Apple Silicon 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Training &amp; Validation Loss Convergence</a:t>
            </a:r>
          </a:p>
        </p:txBody>
      </p:sp>
      <p:pic>
        <p:nvPicPr>
          <p:cNvPr id="12" name="Picture 11" descr="s1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03120"/>
            <a:ext cx="5605272" cy="35032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Verified Loss Curves: Steady convergence across 5 epochs with Cosine Annealing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QUANTITATIVE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Segmentation Evaluation Metrics &amp;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Formulations evaluated strictly over valid pixels V = {i | y_i != -1}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E5FF"/>
                </a:solidFill>
                <a:latin typeface="Arial"/>
              </a:defRPr>
            </a:pPr>
            <a:r>
              <a:t>Intersection over Union (IoU / Jaccard Index)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IoU = TP / (TP + FP + FN)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Measures geometric overlap between predicted and ground-truth flood masks. Primary benchmark standard for remote sensing segmentation.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09928"/>
            <a:ext cx="49377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Arial"/>
              </a:defRPr>
            </a:pPr>
            <a:r>
              <a:t>F1 </a:t>
            </a:r>
            <a:r>
              <a:rPr dirty="0"/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62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rPr lang="en-US" dirty="0"/>
              <a:t>F1-Score</a:t>
            </a:r>
            <a:r>
              <a:rPr dirty="0"/>
              <a:t> = 2·TP / (2·TP + FP + FN) = F1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rPr dirty="0"/>
              <a:t>Harmonic mean of precision and recall. Directly penalizes both false alarms (FP) and missed floodwaters (FN).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Precision (Positive Predictive Value)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Precision = TP / (TP + FP)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Proportion of predicted flood pixels that are true water. Crucial for reducing false-positive flood alarms.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Arial"/>
              </a:defRPr>
            </a:pPr>
            <a:r>
              <a:t>Recall (Sensitivity / Detection 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Recall = TP / (TP + FN)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Proportion of actual floodwaters successfully identified. Essential for disaster coverage.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41324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CRITICAL VIVA INSIGHT — Why Overall Accuracy is Deceptive in Geospatial Tasks: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Because 87.5% of valid test pixels are dry land, a trivial model predicting 100% dry land would obtain 87.5% accuracy while failing to detect any floodwater. Thus, IoU (0.5548) and Dice (0.7137) serve as the true benchmarks of segmentation capability.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QUANTITATIVE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Official Complete Test Results (90 / 90 Chips)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Verified performance evaluated across 100% of the official Sen1Floods11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TEST IoU</a:t>
            </a:r>
          </a:p>
          <a:p>
            <a:pPr algn="ctr">
              <a:defRPr sz="2600" b="1">
                <a:solidFill>
                  <a:srgbClr val="00E5FF"/>
                </a:solidFill>
                <a:latin typeface="Arial"/>
              </a:defRPr>
            </a:pPr>
            <a:r>
              <a:t>0.5548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Jaccard 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DICE / F1</a:t>
            </a:r>
          </a:p>
          <a:p>
            <a:pPr algn="ctr">
              <a:defRPr sz="2600" b="1">
                <a:solidFill>
                  <a:srgbClr val="10B981"/>
                </a:solidFill>
                <a:latin typeface="Arial"/>
              </a:defRPr>
            </a:pPr>
            <a:r>
              <a:t>0.7137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Overlap Coeff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57216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PRECISION</a:t>
            </a:r>
          </a:p>
          <a:p>
            <a:pPr algn="ctr">
              <a:defRPr sz="2600" b="1">
                <a:solidFill>
                  <a:srgbClr val="38BDF8"/>
                </a:solidFill>
                <a:latin typeface="Arial"/>
              </a:defRPr>
            </a:pPr>
            <a:r>
              <a:t>0.7717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77.17% Water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5784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RECALL</a:t>
            </a:r>
          </a:p>
          <a:p>
            <a:pPr algn="ctr">
              <a:defRPr sz="2600" b="1">
                <a:solidFill>
                  <a:srgbClr val="F59E0B"/>
                </a:solidFill>
                <a:latin typeface="Arial"/>
              </a:defRPr>
            </a:pPr>
            <a:r>
              <a:t>0.6637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66.37% Water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74352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ACCURACY</a:t>
            </a:r>
          </a:p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0.9334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93.34% Pixel Acc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493776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Full Benchmark Evaluation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4572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000" b="1">
                <a:solidFill>
                  <a:srgbClr val="38BDF8"/>
                </a:solidFill>
              </a:rPr>
              <a:t>• Test Chips Evaluated:  </a:t>
            </a:r>
            <a:r>
              <a:rPr sz="1000" b="1">
                <a:solidFill>
                  <a:srgbClr val="FFFFFF"/>
                </a:solidFill>
              </a:rPr>
              <a:t>90 / 90 (100% complete)</a:t>
            </a:r>
          </a:p>
          <a:p>
            <a:r>
              <a:rPr sz="1000" b="1">
                <a:solidFill>
                  <a:srgbClr val="38BDF8"/>
                </a:solidFill>
              </a:rPr>
              <a:t>• Total Valid Pixels:    </a:t>
            </a:r>
            <a:r>
              <a:rPr sz="1000" b="1">
                <a:solidFill>
                  <a:srgbClr val="FFFFFF"/>
                </a:solidFill>
              </a:rPr>
              <a:t>20,517,367 pixels</a:t>
            </a:r>
          </a:p>
          <a:p>
            <a:r>
              <a:rPr sz="1000" b="1">
                <a:solidFill>
                  <a:srgbClr val="38BDF8"/>
                </a:solidFill>
              </a:rPr>
              <a:t>• Ground Truth Water:    </a:t>
            </a:r>
            <a:r>
              <a:rPr sz="1000" b="1">
                <a:solidFill>
                  <a:srgbClr val="FFFFFF"/>
                </a:solidFill>
              </a:rPr>
              <a:t>2,566,101 pixels (12.51%)</a:t>
            </a:r>
          </a:p>
          <a:p>
            <a:r>
              <a:rPr sz="1000" b="1">
                <a:solidFill>
                  <a:srgbClr val="38BDF8"/>
                </a:solidFill>
              </a:rPr>
              <a:t>• Ground Truth Land:     </a:t>
            </a:r>
            <a:r>
              <a:rPr sz="1000" b="1">
                <a:solidFill>
                  <a:srgbClr val="FFFFFF"/>
                </a:solidFill>
              </a:rPr>
              <a:t>17,951,266 pixels (87.49%)</a:t>
            </a:r>
          </a:p>
          <a:p>
            <a:r>
              <a:rPr sz="1000" b="1">
                <a:solidFill>
                  <a:srgbClr val="38BDF8"/>
                </a:solidFill>
              </a:rPr>
              <a:t>• Test Masked Loss:      </a:t>
            </a:r>
            <a:r>
              <a:rPr sz="1000" b="1">
                <a:solidFill>
                  <a:srgbClr val="FFFFFF"/>
                </a:solidFill>
              </a:rPr>
              <a:t>0.3918</a:t>
            </a:r>
          </a:p>
          <a:p>
            <a:r>
              <a:rPr sz="1000" b="1">
                <a:solidFill>
                  <a:srgbClr val="38BDF8"/>
                </a:solidFill>
              </a:rPr>
              <a:t>• Benchmark Precision:   </a:t>
            </a:r>
            <a:r>
              <a:rPr sz="1000" b="1">
                <a:solidFill>
                  <a:srgbClr val="FFFFFF"/>
                </a:solidFill>
              </a:rPr>
              <a:t>shows 77.17% precision on official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063240"/>
            <a:ext cx="5973775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3200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Validation Metric Progression (IoU &amp; Dice)</a:t>
            </a:r>
          </a:p>
        </p:txBody>
      </p:sp>
      <p:pic>
        <p:nvPicPr>
          <p:cNvPr id="22" name="Picture 21" descr="s1_metri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520440"/>
            <a:ext cx="5605272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ERROR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Pixel-Level Test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Complete 20,517,367 pixel breakdown and error taxonomy across 90 test chips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Official Test Set Confusion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2240280" cy="118872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TRUE POSITIVES (TP)</a:t>
            </a:r>
            <a:br/>
            <a:r>
              <a:t>1,703,186 Pixels</a:t>
            </a:r>
          </a:p>
          <a:p>
            <a:pPr algn="ctr">
              <a:defRPr sz="850">
                <a:solidFill>
                  <a:srgbClr val="10B981"/>
                </a:solidFill>
              </a:defRPr>
            </a:pPr>
            <a:r>
              <a:t>Water correctly detected (66.4%)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48840"/>
            <a:ext cx="2240280" cy="1188720"/>
          </a:xfrm>
          <a:prstGeom prst="roundRect">
            <a:avLst/>
          </a:prstGeom>
          <a:solidFill>
            <a:srgbClr val="7F1D1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FALSE POSITIVES (FP)</a:t>
            </a:r>
            <a:br/>
            <a:r>
              <a:t>503,818 Pixels</a:t>
            </a:r>
          </a:p>
          <a:p>
            <a:pPr algn="ctr">
              <a:defRPr sz="850">
                <a:solidFill>
                  <a:srgbClr val="FCA5A5"/>
                </a:solidFill>
              </a:defRPr>
            </a:pPr>
            <a:r>
              <a:t>Dry land flagged as flood (2.8%)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74720"/>
            <a:ext cx="2240280" cy="1188720"/>
          </a:xfrm>
          <a:prstGeom prst="roundRect">
            <a:avLst/>
          </a:prstGeom>
          <a:solidFill>
            <a:srgbClr val="78350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FALSE NEGATIVES (FN)</a:t>
            </a:r>
            <a:br/>
            <a:r>
              <a:t>862,915 Pixels</a:t>
            </a:r>
          </a:p>
          <a:p>
            <a:pPr algn="ctr">
              <a:defRPr sz="850">
                <a:solidFill>
                  <a:srgbClr val="F59E0B"/>
                </a:solidFill>
              </a:defRPr>
            </a:pPr>
            <a:r>
              <a:t>Floodwater missed (33.6%)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74720"/>
            <a:ext cx="224028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TRUE NEGATIVES (TN)</a:t>
            </a:r>
            <a:br/>
            <a:r>
              <a:t>17,447,448 Pixels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Land correctly identified (97.2%)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Total Evaluated Valid Pixels: 20,517,367 (100% of 90 test chips)</a:t>
            </a:r>
            <a:br/>
            <a:r>
              <a:t>• Ground Truth Water: 2,566,101 pixels (12.51%)</a:t>
            </a:r>
            <a:br/>
            <a:r>
              <a:t>• Ground Truth Land: 17,951,266 pixels (87.49%)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00200"/>
            <a:ext cx="579089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Physical Radar Error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488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050" b="1">
                <a:solidFill>
                  <a:srgbClr val="38BDF8"/>
                </a:solidFill>
              </a:defRPr>
            </a:pPr>
            <a:r>
              <a:t>1. False Positives (FP = 503,818 pixels):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Smooth, flat dry surfaces (e.g. airport runways, dry playas, calm sand).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Mirror-like terrain produces specular reflection mimicking open water.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The model reduces the proportion of false-positive flood pixels in benchmark predictions using VH cross-polarization texture.</a:t>
            </a:r>
          </a:p>
          <a:p>
            <a:pPr>
              <a:spcBef>
                <a:spcPts val="400"/>
              </a:spcBef>
              <a:defRPr sz="1050" b="1">
                <a:solidFill>
                  <a:srgbClr val="38BDF8"/>
                </a:solidFill>
              </a:defRPr>
            </a:pPr>
            <a:r>
              <a:t>2. False Negatives (FN = 862,915 pixels):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Flooded vegetation causing corner-reflector 'double-bounce' backscatter.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Narrow drainage ditches narrower than Sentinel-1's spatial resolution.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Surface roughening from high winds altering specular reflection.</a:t>
            </a:r>
          </a:p>
          <a:p>
            <a:pPr>
              <a:spcBef>
                <a:spcPts val="400"/>
              </a:spcBef>
              <a:defRPr sz="1050" b="1">
                <a:solidFill>
                  <a:srgbClr val="38BDF8"/>
                </a:solidFill>
              </a:defRPr>
            </a:pPr>
            <a:r>
              <a:t>3. Precision Impact: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77.17% Precision demonstrates low false-positive rate on land.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66.37% Recall captures continuous open-water floodplains reliably.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1 (GOOD)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USA_905409 (High-Contrast Inundation)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Representative good prediction on open agricultural floodplains with high specular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CATEGORY: GOOD PREDICTION  |  EVENT: USA (FLOODPLAINS)  |  VALID PIXELS: 262,099</a:t>
            </a:r>
          </a:p>
          <a:p>
            <a:r>
              <a:rPr sz="1300" b="1">
                <a:solidFill>
                  <a:srgbClr val="00E5FF"/>
                </a:solidFill>
              </a:rPr>
              <a:t>Test IoU: </a:t>
            </a:r>
            <a:r>
              <a:rPr sz="1400" b="1">
                <a:solidFill>
                  <a:srgbClr val="FFFFFF"/>
                </a:solidFill>
              </a:rPr>
              <a:t>0.9350    </a:t>
            </a:r>
            <a:r>
              <a:rPr sz="1300" b="1">
                <a:solidFill>
                  <a:srgbClr val="00E5FF"/>
                </a:solidFill>
              </a:rPr>
              <a:t>Dice / F1: </a:t>
            </a:r>
            <a:r>
              <a:rPr sz="1400" b="1">
                <a:solidFill>
                  <a:srgbClr val="FFFFFF"/>
                </a:solidFill>
              </a:rPr>
              <a:t>0.9664    </a:t>
            </a:r>
            <a:r>
              <a:rPr sz="1300" b="1">
                <a:solidFill>
                  <a:srgbClr val="00E5FF"/>
                </a:solidFill>
              </a:rPr>
              <a:t>Precision: </a:t>
            </a:r>
            <a:r>
              <a:rPr sz="1400" b="1">
                <a:solidFill>
                  <a:srgbClr val="FFFFFF"/>
                </a:solidFill>
              </a:rPr>
              <a:t>0.9720    </a:t>
            </a:r>
            <a:r>
              <a:rPr sz="1300" b="1">
                <a:solidFill>
                  <a:srgbClr val="00E5FF"/>
                </a:solidFill>
              </a:rPr>
              <a:t>Recall: </a:t>
            </a:r>
            <a:r>
              <a:rPr sz="1400" b="1">
                <a:solidFill>
                  <a:srgbClr val="FFFFFF"/>
                </a:solidFill>
              </a:rPr>
              <a:t>0.9609    </a:t>
            </a:r>
            <a:r>
              <a:rPr sz="1100" b="1">
                <a:solidFill>
                  <a:srgbClr val="94A3B8"/>
                </a:solidFill>
              </a:rPr>
              <a:t>Water Pixels: </a:t>
            </a:r>
            <a:r>
              <a:rPr sz="1100" b="1">
                <a:solidFill>
                  <a:srgbClr val="F1F5F9"/>
                </a:solidFill>
              </a:rPr>
              <a:t>44,467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_good_prediction_USA_9054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Analysis: The open agricultural floodplain provides sharp specular radar contrast, allowing U-Net to recover crisp flood boundaries with near-perfect 0.9350 IoU.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2 (AVERAGE)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Pakistan_694942 (Complex Boundaries)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Representative average prediction on agrarian fields with mud-water transition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CATEGORY: AVERAGE PREDICTION  |  EVENT: PAKISTAN (AGRICULTURAL)  |  VALID PIXELS: 191,444</a:t>
            </a:r>
          </a:p>
          <a:p>
            <a:r>
              <a:rPr sz="1300" b="1">
                <a:solidFill>
                  <a:srgbClr val="00E5FF"/>
                </a:solidFill>
              </a:rPr>
              <a:t>Test IoU: </a:t>
            </a:r>
            <a:r>
              <a:rPr sz="1400" b="1">
                <a:solidFill>
                  <a:srgbClr val="FFFFFF"/>
                </a:solidFill>
              </a:rPr>
              <a:t>0.3829    </a:t>
            </a:r>
            <a:r>
              <a:rPr sz="1300" b="1">
                <a:solidFill>
                  <a:srgbClr val="00E5FF"/>
                </a:solidFill>
              </a:rPr>
              <a:t>Dice / F1: </a:t>
            </a:r>
            <a:r>
              <a:rPr sz="1400" b="1">
                <a:solidFill>
                  <a:srgbClr val="FFFFFF"/>
                </a:solidFill>
              </a:rPr>
              <a:t>0.5538    </a:t>
            </a:r>
            <a:r>
              <a:rPr sz="1300" b="1">
                <a:solidFill>
                  <a:srgbClr val="00E5FF"/>
                </a:solidFill>
              </a:rPr>
              <a:t>Precision: </a:t>
            </a:r>
            <a:r>
              <a:rPr sz="1400" b="1">
                <a:solidFill>
                  <a:srgbClr val="FFFFFF"/>
                </a:solidFill>
              </a:rPr>
              <a:t>0.4152    </a:t>
            </a:r>
            <a:r>
              <a:rPr sz="1300" b="1">
                <a:solidFill>
                  <a:srgbClr val="00E5FF"/>
                </a:solidFill>
              </a:rPr>
              <a:t>Recall: </a:t>
            </a:r>
            <a:r>
              <a:rPr sz="1400" b="1">
                <a:solidFill>
                  <a:srgbClr val="FFFFFF"/>
                </a:solidFill>
              </a:rPr>
              <a:t>0.8313    </a:t>
            </a:r>
            <a:r>
              <a:rPr sz="1100" b="1">
                <a:solidFill>
                  <a:srgbClr val="94A3B8"/>
                </a:solidFill>
              </a:rPr>
              <a:t>Water Pixels: </a:t>
            </a:r>
            <a:r>
              <a:rPr sz="1100" b="1">
                <a:solidFill>
                  <a:srgbClr val="F1F5F9"/>
                </a:solidFill>
              </a:rPr>
              <a:t>18,481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2_average_prediction_Pakistan_694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Analysis: The model achieves high recall (83.13%), capturing major inundated zones, but exhibits false-positive boundary expansion along saturated mud-water transition boundaries.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3 (DIFFICULT)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Sri-Lanka_450918 (Canopy Attenuation)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Transparent evaluation of radar double-bounce limitations in dense tropical vegetation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CATEGORY: DIFFICULT PREDICTION (PHYSICAL RADAR LIMITATION)  |  EVENT: SRI LANKA  |  VALID PIXELS: 99,126</a:t>
            </a:r>
          </a:p>
          <a:p>
            <a:r>
              <a:rPr sz="1300" b="1">
                <a:solidFill>
                  <a:srgbClr val="F59E0B"/>
                </a:solidFill>
              </a:rPr>
              <a:t>Test IoU: </a:t>
            </a:r>
            <a:r>
              <a:rPr sz="1400" b="1">
                <a:solidFill>
                  <a:srgbClr val="FFFFFF"/>
                </a:solidFill>
              </a:rPr>
              <a:t>0.0086    </a:t>
            </a:r>
            <a:r>
              <a:rPr sz="1300" b="1">
                <a:solidFill>
                  <a:srgbClr val="F59E0B"/>
                </a:solidFill>
              </a:rPr>
              <a:t>Dice / F1: </a:t>
            </a:r>
            <a:r>
              <a:rPr sz="1400" b="1">
                <a:solidFill>
                  <a:srgbClr val="FFFFFF"/>
                </a:solidFill>
              </a:rPr>
              <a:t>0.0171    </a:t>
            </a:r>
            <a:r>
              <a:rPr sz="1300" b="1">
                <a:solidFill>
                  <a:srgbClr val="F59E0B"/>
                </a:solidFill>
              </a:rPr>
              <a:t>Precision: </a:t>
            </a:r>
            <a:r>
              <a:rPr sz="1400" b="1">
                <a:solidFill>
                  <a:srgbClr val="FFFFFF"/>
                </a:solidFill>
              </a:rPr>
              <a:t>0.2317    </a:t>
            </a:r>
            <a:r>
              <a:rPr sz="1300" b="1">
                <a:solidFill>
                  <a:srgbClr val="F59E0B"/>
                </a:solidFill>
              </a:rPr>
              <a:t>Recall: </a:t>
            </a:r>
            <a:r>
              <a:rPr sz="1400" b="1">
                <a:solidFill>
                  <a:srgbClr val="FFFFFF"/>
                </a:solidFill>
              </a:rPr>
              <a:t>0.0089    </a:t>
            </a:r>
            <a:r>
              <a:rPr sz="1100" b="1">
                <a:solidFill>
                  <a:srgbClr val="94A3B8"/>
                </a:solidFill>
              </a:rPr>
              <a:t>Water Pixels: </a:t>
            </a:r>
            <a:r>
              <a:rPr sz="1100" b="1">
                <a:solidFill>
                  <a:srgbClr val="F1F5F9"/>
                </a:solidFill>
              </a:rPr>
              <a:t>4,277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3_difficult_prediction_Sri-Lanka_4509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Physical Failure Mode: Dense tropical vegetation canopy and submerged tree trunks create corner-reflector 'double-bounce' backscatter, masking standing water beneath the foliage.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GEOSPATIAL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Flood Mapping &amp; Nominal Flooded Area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Transforming continuous probability heatmaps into actionable disaster management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E5FF"/>
                </a:solidFill>
                <a:latin typeface="Arial"/>
              </a:defRPr>
            </a:pPr>
            <a:r>
              <a:t>Geospatial Flow &amp; Nominal Area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• Continuous Probability Map: Sigmoid output represents pixel-level flood probability p̂ ∈ [0, 1]. Termed 'Flood Probability Map' rather than confidence map.</a:t>
            </a:r>
            <a:br/>
            <a:r>
              <a:t>• Thresholding &amp; Nominal Area: Pixels with p̂ ≥ τ (default τ = 0.50) are aggregated: Nominal Flooded Area ≈ N_flood × 100 m² / 10⁶ = km².</a:t>
            </a:r>
            <a:br/>
            <a:r>
              <a:t>• WGS84 Scaling Note: Because unprojected EPSG:4326 pixel width scales with cos(latitude), area is explicitly reported as a nominal equatorial approximation.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1094415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Somalia Regional Flood Inundation Case Study</a:t>
            </a:r>
          </a:p>
        </p:txBody>
      </p:sp>
      <p:pic>
        <p:nvPicPr>
          <p:cNvPr id="12" name="Picture 11" descr="Somalia_989553_regional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10725912" cy="2346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85216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Regional Mapping Output: Input SAR Composite, Ground Truth Target, Predicted Flood Mask, and Color Overlay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INTERACTIVE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Streamlit Web Dashboard (`app.py`)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Dual-mode web interface supporting benchmark exploration and custom GeoTIFF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Arial"/>
              </a:defRPr>
            </a:pPr>
            <a:r>
              <a:t>Mode A: Benchmark Test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Dropdown selector for all 90 official test chips.</a:t>
            </a:r>
            <a:br/>
            <a:r>
              <a:t>• Live 5-panel diagnostics: SAR composite, ground truth, prediction, overlay, and probability heatmap.</a:t>
            </a:r>
            <a:br/>
            <a:r>
              <a:t>• Instant quantitative metrics (IoU, Dice, Precision, Recall).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2513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Mode B: Custom GeoTIFF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Ingests arbitrary dual-polarization Sentinel-1 GeoTIFFs.</a:t>
            </a:r>
            <a:br/>
            <a:r>
              <a:t>• Validates channel counts (≥ 2 bands) and normalizes dB.</a:t>
            </a:r>
            <a:br/>
            <a:r>
              <a:t>• Interactive threshold slider (0.10 to 0.90) with sub-50ms inference.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94415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Dashboard Diagnostic Visualizer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00400"/>
            <a:ext cx="36576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LOCAL DEMO → http://localhost:8501</a:t>
            </a:r>
          </a:p>
        </p:txBody>
      </p:sp>
      <p:pic>
        <p:nvPicPr>
          <p:cNvPr id="16" name="Picture 15" descr="USA_994009_regional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10725912" cy="23462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CRITICAL ANALYSIS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Academic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Objective evaluation of current constraints and proposed engineering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Current Academic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Specular Surface False Positives: </a:t>
            </a:r>
            <a:r>
              <a:rPr sz="950">
                <a:solidFill>
                  <a:srgbClr val="F1F5F9"/>
                </a:solidFill>
              </a:rPr>
              <a:t>Smooth dry surfaces such as airport runways and flat playas specularly reflect radar pulses, causing occasional false alarms.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Canopy Volume False Negatives: </a:t>
            </a:r>
            <a:r>
              <a:rPr sz="950">
                <a:solidFill>
                  <a:srgbClr val="F1F5F9"/>
                </a:solidFill>
              </a:rPr>
              <a:t>Flooded vegetation and dense tree canopies cause double-bounce backscatter, obscuring standing water beneath foliage.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Unlabeled No-Data Pixels: </a:t>
            </a:r>
            <a:r>
              <a:rPr sz="950">
                <a:solidFill>
                  <a:srgbClr val="F1F5F9"/>
                </a:solidFill>
              </a:rPr>
              <a:t>Sen1Floods11 chips contain -1 invalid pixels that must be masked out during training.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Historical JRC Baseline: </a:t>
            </a:r>
            <a:r>
              <a:rPr sz="950">
                <a:solidFill>
                  <a:srgbClr val="F1F5F9"/>
                </a:solidFill>
              </a:rPr>
              <a:t>Sen1Floods11 relies on the 30-year JRC permanence raster rather than paired pre-flood SAR acquisitions.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Nominal Equatorial Area: </a:t>
            </a:r>
            <a:r>
              <a:rPr sz="950">
                <a:solidFill>
                  <a:srgbClr val="F1F5F9"/>
                </a:solidFill>
              </a:rPr>
              <a:t>WGS84 angular resolution requires nominal metric assumptions rather than local UTM projection.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2513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Future Research &amp; Engineering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Bi-Temporal SAR Difference Networks: </a:t>
            </a:r>
            <a:r>
              <a:rPr sz="950">
                <a:solidFill>
                  <a:srgbClr val="F1F5F9"/>
                </a:solidFill>
              </a:rPr>
              <a:t>Ingesting co-registered pre-flood and post-flood SAR pairs to directly isolate floodwater from permanent water bodies.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Multi-Sensor &amp; DEM Fusion: </a:t>
            </a:r>
            <a:r>
              <a:rPr sz="950">
                <a:solidFill>
                  <a:srgbClr val="F1F5F9"/>
                </a:solidFill>
              </a:rPr>
              <a:t>Fusing Sentinel-1 SAR with Copernicus DEM elevation rasters and Sentinel-2 optical data to enforce topographical gravity constraints.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Infrastructure Damage Intersection: </a:t>
            </a:r>
            <a:r>
              <a:rPr sz="950">
                <a:solidFill>
                  <a:srgbClr val="F1F5F9"/>
                </a:solidFill>
              </a:rPr>
              <a:t>Overlaying OpenStreetMap building footprints, hospitals, and road networks onto predicted flood masks for evacuation planning.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</a:rPr>
              <a:t>• Cloud-Native Automated Alerts: </a:t>
            </a:r>
            <a:r>
              <a:rPr sz="950">
                <a:solidFill>
                  <a:srgbClr val="F1F5F9"/>
                </a:solidFill>
              </a:rPr>
              <a:t>Deploying as a serverless container hooked to Copernicus Open Access Hub webhooks for automated near-real-time flood alerting.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CONCLUSION &amp;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From Satellite Radar to Verified Flood 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ROBUST PIPELINE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00E5FF"/>
                </a:solidFill>
              </a:defRPr>
            </a:pPr>
            <a:r>
              <a:t>Sentinel-1 VV/VH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Automated decibel normalization &amp; strided subsampling pipeline with 0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OPTIMIZED U-NET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7.76M Parameters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Group Normalization (G=8) ensured stable convergence with batch size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TEST BENCHMARK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0.5548 Test IoU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Evaluated on 100% of 90 test chips (20.5M pixels) with 0.7137 Dice &amp; 93.34% Acc.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59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799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VERIFIED QUALITY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39/39 Tests Passed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Full test suite passing, live Streamlit UI &amp; sub-50ms inference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Arial"/>
              </a:defRPr>
            </a:pPr>
            <a:r>
              <a:t>Thank You for Your Time &amp; Consideration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Open for Questions, Evaluation, and Live Demonstration</a:t>
            </a:r>
          </a:p>
          <a:p>
            <a:pPr algn="ctr">
              <a:spcBef>
                <a:spcPts val="10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Project Repository: AI-Based Flood Detection and Mapping  |  Sen1Floods11 • Sentinel-1 SAR • PyTorch U-Net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5608</Words>
  <Application>Microsoft Macintosh PowerPoint</Application>
  <PresentationFormat>Widescreen</PresentationFormat>
  <Paragraphs>456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23BCP391SupriyoC</cp:lastModifiedBy>
  <cp:revision>5</cp:revision>
  <dcterms:created xsi:type="dcterms:W3CDTF">2013-01-27T09:14:16Z</dcterms:created>
  <dcterms:modified xsi:type="dcterms:W3CDTF">2026-09-30T04:45:23Z</dcterms:modified>
  <cp:category/>
</cp:coreProperties>
</file>